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98" r:id="rId2"/>
    <p:sldId id="260" r:id="rId3"/>
    <p:sldId id="300" r:id="rId4"/>
    <p:sldId id="301" r:id="rId5"/>
    <p:sldId id="299" r:id="rId6"/>
    <p:sldId id="303" r:id="rId7"/>
    <p:sldId id="256" r:id="rId8"/>
  </p:sldIdLst>
  <p:sldSz cx="9144000" cy="5143500" type="screen16x9"/>
  <p:notesSz cx="6858000" cy="9144000"/>
  <p:embeddedFontLst>
    <p:embeddedFont>
      <p:font typeface="DM Sans" panose="020B0604020202020204" charset="0"/>
      <p:regular r:id="rId10"/>
      <p:bold r:id="rId11"/>
      <p:italic r:id="rId12"/>
      <p:boldItalic r:id="rId13"/>
    </p:embeddedFont>
    <p:embeddedFont>
      <p:font typeface="Bebas Neue" panose="020B0604020202020204" charset="0"/>
      <p:regular r:id="rId14"/>
    </p:embeddedFont>
    <p:embeddedFont>
      <p:font typeface="Bahnschrift" panose="020B0502040204020203" pitchFamily="34" charset="0"/>
      <p:regular r:id="rId15"/>
      <p:bold r:id="rId16"/>
    </p:embeddedFont>
    <p:embeddedFont>
      <p:font typeface="Baloo 2 ExtraBold" panose="020B060402020202020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9E37248-793B-413D-A7E9-DAC154F34269}">
          <p14:sldIdLst/>
        </p14:section>
        <p14:section name="Untitled Section" id="{250F0C80-B7A0-41FC-B1D5-1F9FA6D5F999}">
          <p14:sldIdLst>
            <p14:sldId id="298"/>
            <p14:sldId id="260"/>
            <p14:sldId id="300"/>
            <p14:sldId id="301"/>
            <p14:sldId id="299"/>
            <p14:sldId id="303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7"/>
    <a:srgbClr val="ECECEC"/>
    <a:srgbClr val="509889"/>
    <a:srgbClr val="5B8D78"/>
    <a:srgbClr val="E0E7FB"/>
    <a:srgbClr val="808080"/>
    <a:srgbClr val="354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B771C0-49F4-45FD-AD91-CDFFE3EDD347}">
  <a:tblStyle styleId="{2FB771C0-49F4-45FD-AD91-CDFFE3EDD3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2940C9C-8347-4B21-9FD0-C5E6160477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6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aa\Downloads\MalazFiles\Case%20Study%20Al%20Bustan%20Data%20Fi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aa\Downloads\MalazFiles\Case%20Study%20Al%20Bustan%20Data%20Fi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aa\Downloads\MalazFiles\Case%20Study%20Al%20Bustan%20Data%20Fi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Al Bustan Data File.xlsx]Sheet3!PivotTable2</c:name>
    <c:fmtId val="4"/>
  </c:pivotSource>
  <c:chart>
    <c:autoTitleDeleted val="1"/>
    <c:pivotFmts>
      <c:pivotFmt>
        <c:idx val="0"/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2B3A5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solidFill>
            <a:srgbClr val="3D4F7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solidFill>
            <a:srgbClr val="DDE7F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3D4F7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9"/>
        <c:spPr>
          <a:solidFill>
            <a:srgbClr val="2B3A5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0"/>
        <c:spPr>
          <a:solidFill>
            <a:srgbClr val="DDE7F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3D4F7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7"/>
        <c:spPr>
          <a:solidFill>
            <a:srgbClr val="2B3A5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8"/>
        <c:spPr>
          <a:solidFill>
            <a:srgbClr val="DDE7F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Sheet3!$B$3</c:f>
              <c:strCache>
                <c:ptCount val="1"/>
                <c:pt idx="0">
                  <c:v>Count of Category</c:v>
                </c:pt>
              </c:strCache>
            </c:strRef>
          </c:tx>
          <c:dPt>
            <c:idx val="0"/>
            <c:bubble3D val="0"/>
            <c:explosion val="6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39A2-4E99-A38B-7DF04099E6C2}"/>
              </c:ext>
            </c:extLst>
          </c:dPt>
          <c:dPt>
            <c:idx val="1"/>
            <c:bubble3D val="0"/>
            <c:spPr>
              <a:solidFill>
                <a:srgbClr val="2B3A5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39A2-4E99-A38B-7DF04099E6C2}"/>
              </c:ext>
            </c:extLst>
          </c:dPt>
          <c:dPt>
            <c:idx val="2"/>
            <c:bubble3D val="0"/>
            <c:explosion val="7"/>
            <c:spPr>
              <a:solidFill>
                <a:srgbClr val="DDE7F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39A2-4E99-A38B-7DF04099E6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8D78"/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Sheet3!$A$4:$A$7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Sheet3!$B$4:$B$7</c:f>
              <c:numCache>
                <c:formatCode>General</c:formatCode>
                <c:ptCount val="3"/>
                <c:pt idx="0">
                  <c:v>241</c:v>
                </c:pt>
                <c:pt idx="1">
                  <c:v>617</c:v>
                </c:pt>
                <c:pt idx="2">
                  <c:v>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A2-4E99-A38B-7DF04099E6C2}"/>
            </c:ext>
          </c:extLst>
        </c:ser>
        <c:ser>
          <c:idx val="1"/>
          <c:order val="1"/>
          <c:tx>
            <c:strRef>
              <c:f>Sheet3!$C$3</c:f>
              <c:strCache>
                <c:ptCount val="1"/>
                <c:pt idx="0">
                  <c:v>Sum of Total Visits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8-39A2-4E99-A38B-7DF04099E6C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A-39A2-4E99-A38B-7DF04099E6C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C-39A2-4E99-A38B-7DF04099E6C2}"/>
              </c:ext>
            </c:extLst>
          </c:dPt>
          <c:cat>
            <c:strRef>
              <c:f>Sheet3!$A$4:$A$7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Sheet3!$C$4:$C$7</c:f>
              <c:numCache>
                <c:formatCode>General</c:formatCode>
                <c:ptCount val="3"/>
                <c:pt idx="0">
                  <c:v>1922</c:v>
                </c:pt>
                <c:pt idx="1">
                  <c:v>3077</c:v>
                </c:pt>
                <c:pt idx="2">
                  <c:v>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9A2-4E99-A38B-7DF04099E6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Al Bustan Data File.xlsx]Sheet3!PivotTable3</c:name>
    <c:fmtId val="4"/>
  </c:pivotSource>
  <c:chart>
    <c:autoTitleDeleted val="1"/>
    <c:pivotFmts>
      <c:pivotFmt>
        <c:idx val="0"/>
        <c:spPr>
          <a:solidFill>
            <a:srgbClr val="3D4F79"/>
          </a:solidFill>
          <a:ln w="12700">
            <a:solidFill>
              <a:srgbClr val="3D4F79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2B3A55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DDE7F5"/>
          </a:solidFill>
          <a:ln w="12700" cap="rnd">
            <a:solidFill>
              <a:srgbClr val="DDE7F5"/>
            </a:solidFill>
          </a:ln>
          <a:effectLst/>
        </c:spPr>
      </c:pivotFmt>
      <c:pivotFmt>
        <c:idx val="2"/>
      </c:pivotFmt>
      <c:pivotFmt>
        <c:idx val="3"/>
        <c:spPr>
          <a:solidFill>
            <a:srgbClr val="DDE7F5"/>
          </a:solidFill>
          <a:ln w="12700" cap="rnd">
            <a:solidFill>
              <a:srgbClr val="DDE7F5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</c:pivotFmt>
      <c:pivotFmt>
        <c:idx val="4"/>
        <c:spPr>
          <a:solidFill>
            <a:srgbClr val="3D4F79"/>
          </a:solidFill>
          <a:ln w="12700">
            <a:solidFill>
              <a:srgbClr val="3D4F79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</c:pivotFmt>
      <c:pivotFmt>
        <c:idx val="5"/>
        <c:spPr>
          <a:solidFill>
            <a:srgbClr val="3D4F79"/>
          </a:solidFill>
          <a:ln w="12700">
            <a:solidFill>
              <a:srgbClr val="3D4F79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2B3A55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DDE7F5"/>
          </a:solidFill>
          <a:ln w="12700" cap="rnd">
            <a:solidFill>
              <a:srgbClr val="DDE7F5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</c:pivotFmt>
      <c:pivotFmt>
        <c:idx val="7"/>
        <c:spPr>
          <a:solidFill>
            <a:srgbClr val="3D4F79"/>
          </a:solidFill>
          <a:ln w="12700">
            <a:solidFill>
              <a:srgbClr val="3D4F79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2B3A55"/>
                  </a:solidFill>
                  <a:latin typeface="Bahnschrift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DDE7F5"/>
          </a:solidFill>
          <a:ln w="12700" cap="rnd">
            <a:solidFill>
              <a:srgbClr val="DDE7F5"/>
            </a:solidFill>
          </a:ln>
          <a:effectLst>
            <a:outerShdw blurRad="50800" dist="38100" dir="8100000" algn="tr" rotWithShape="0">
              <a:srgbClr val="3D4F79">
                <a:alpha val="40000"/>
              </a:srgbClr>
            </a:outerShdw>
          </a:effectLst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D4F79"/>
            </a:solidFill>
            <a:ln w="12700">
              <a:solidFill>
                <a:srgbClr val="3D4F79"/>
              </a:solidFill>
            </a:ln>
            <a:effectLst>
              <a:outerShdw blurRad="50800" dist="38100" dir="8100000" algn="tr" rotWithShape="0">
                <a:srgbClr val="3D4F79">
                  <a:alpha val="40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DDE7F5"/>
              </a:solidFill>
              <a:ln w="12700" cap="rnd">
                <a:solidFill>
                  <a:srgbClr val="DDE7F5"/>
                </a:solidFill>
              </a:ln>
              <a:effectLst>
                <a:outerShdw blurRad="50800" dist="38100" dir="8100000" algn="tr" rotWithShape="0">
                  <a:srgbClr val="3D4F79">
                    <a:alpha val="4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20E-42DD-943E-DEB8357EEF2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8D78"/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Sheet3!$A$13:$A$16</c:f>
              <c:strCache>
                <c:ptCount val="3"/>
                <c:pt idx="0">
                  <c:v>B</c:v>
                </c:pt>
                <c:pt idx="1">
                  <c:v>A</c:v>
                </c:pt>
                <c:pt idx="2">
                  <c:v>C</c:v>
                </c:pt>
              </c:strCache>
            </c:strRef>
          </c:cat>
          <c:val>
            <c:numRef>
              <c:f>Sheet3!$B$13:$B$16</c:f>
              <c:numCache>
                <c:formatCode>General</c:formatCode>
                <c:ptCount val="3"/>
                <c:pt idx="0">
                  <c:v>3077</c:v>
                </c:pt>
                <c:pt idx="1">
                  <c:v>1922</c:v>
                </c:pt>
                <c:pt idx="2">
                  <c:v>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0E-42DD-943E-DEB8357EEF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0034592"/>
        <c:axId val="590039168"/>
      </c:barChart>
      <c:catAx>
        <c:axId val="590034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E9EBE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2B3A55"/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US"/>
          </a:p>
        </c:txPr>
        <c:crossAx val="590039168"/>
        <c:crosses val="autoZero"/>
        <c:auto val="1"/>
        <c:lblAlgn val="ctr"/>
        <c:lblOffset val="100"/>
        <c:noMultiLvlLbl val="0"/>
      </c:catAx>
      <c:valAx>
        <c:axId val="5900391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9003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Sheet3!$D$28</c:f>
              <c:strCache>
                <c:ptCount val="1"/>
                <c:pt idx="0">
                  <c:v>Sales per Productive Visit</c:v>
                </c:pt>
              </c:strCache>
            </c:strRef>
          </c:tx>
          <c:spPr>
            <a:solidFill>
              <a:srgbClr val="DDE7F5"/>
            </a:solidFill>
            <a:ln>
              <a:solidFill>
                <a:srgbClr val="DDE7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8D78"/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Sheet3!$B$29:$B$31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Sheet3!$D$29:$D$31</c:f>
              <c:numCache>
                <c:formatCode>0.00</c:formatCode>
                <c:ptCount val="3"/>
                <c:pt idx="0">
                  <c:v>849.61846689895469</c:v>
                </c:pt>
                <c:pt idx="1">
                  <c:v>344.78440366972478</c:v>
                </c:pt>
                <c:pt idx="2">
                  <c:v>121.83870967741936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4-4929-A1FE-C155B75B22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87719184"/>
        <c:axId val="587719600"/>
      </c:barChart>
      <c:lineChart>
        <c:grouping val="standard"/>
        <c:varyColors val="0"/>
        <c:ser>
          <c:idx val="0"/>
          <c:order val="0"/>
          <c:tx>
            <c:strRef>
              <c:f>Sheet3!$C$28</c:f>
              <c:strCache>
                <c:ptCount val="1"/>
                <c:pt idx="0">
                  <c:v>Productivity %</c:v>
                </c:pt>
              </c:strCache>
            </c:strRef>
          </c:tx>
          <c:spPr>
            <a:ln w="28575" cap="rnd">
              <a:solidFill>
                <a:srgbClr val="2B3A55"/>
              </a:solidFill>
              <a:round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1.3888888888888888E-2"/>
                  <c:y val="-2.77777777777777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624-4929-A1FE-C155B75B225A}"/>
                </c:ext>
              </c:extLst>
            </c:dLbl>
            <c:dLbl>
              <c:idx val="1"/>
              <c:layout>
                <c:manualLayout>
                  <c:x val="2.7777777777777776E-2"/>
                  <c:y val="-2.31481481481481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E624-4929-A1FE-C155B75B225A}"/>
                </c:ext>
              </c:extLst>
            </c:dLbl>
            <c:dLbl>
              <c:idx val="2"/>
              <c:layout>
                <c:manualLayout>
                  <c:x val="2.7777777777777779E-3"/>
                  <c:y val="3.24074074074074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624-4929-A1FE-C155B75B22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6">
                        <a:lumMod val="25000"/>
                      </a:schemeClr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Sheet3!$B$29:$B$31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Sheet3!$C$29:$C$31</c:f>
              <c:numCache>
                <c:formatCode>0.00</c:formatCode>
                <c:ptCount val="3"/>
                <c:pt idx="0">
                  <c:v>29.864724245577523</c:v>
                </c:pt>
                <c:pt idx="1">
                  <c:v>21.254468638284045</c:v>
                </c:pt>
                <c:pt idx="2">
                  <c:v>47.523584905660378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624-4929-A1FE-C155B75B22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070976"/>
        <c:axId val="68061824"/>
      </c:lineChart>
      <c:catAx>
        <c:axId val="58771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2B3A55"/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US"/>
          </a:p>
        </c:txPr>
        <c:crossAx val="587719600"/>
        <c:crosses val="autoZero"/>
        <c:auto val="1"/>
        <c:lblAlgn val="ctr"/>
        <c:lblOffset val="100"/>
        <c:noMultiLvlLbl val="0"/>
      </c:catAx>
      <c:valAx>
        <c:axId val="587719600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719184"/>
        <c:crosses val="autoZero"/>
        <c:crossBetween val="between"/>
      </c:valAx>
      <c:valAx>
        <c:axId val="68061824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70976"/>
        <c:crosses val="max"/>
        <c:crossBetween val="between"/>
      </c:valAx>
      <c:catAx>
        <c:axId val="680709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0618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2B3A55"/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23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88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849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560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06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8" r:id="rId4"/>
    <p:sldLayoutId id="2147483669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30" y="147372"/>
            <a:ext cx="5864132" cy="597205"/>
          </a:xfrm>
        </p:spPr>
        <p:txBody>
          <a:bodyPr/>
          <a:lstStyle/>
          <a:p>
            <a:r>
              <a:rPr lang="en-US" sz="2800" dirty="0" smtClean="0"/>
              <a:t>Business Overview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12836" y="744577"/>
            <a:ext cx="8726212" cy="1604242"/>
          </a:xfrm>
        </p:spPr>
        <p:txBody>
          <a:bodyPr/>
          <a:lstStyle/>
          <a:p>
            <a:r>
              <a:rPr lang="en-US" dirty="0"/>
              <a:t>This project focuses on a company that produces and distributes high-quality nuts and seeds </a:t>
            </a:r>
            <a:r>
              <a:rPr lang="en-US" dirty="0" smtClean="0"/>
              <a:t>across Saudi </a:t>
            </a:r>
            <a:r>
              <a:rPr lang="en-US" dirty="0"/>
              <a:t>Arabia. The Riyadh branch operates through a delivery-based distribution model, covering </a:t>
            </a:r>
            <a:r>
              <a:rPr lang="en-US" b="1" dirty="0"/>
              <a:t>6 neighborhoods per week</a:t>
            </a:r>
            <a:r>
              <a:rPr lang="en-US" dirty="0"/>
              <a:t>, with each neighborhood containing approximately </a:t>
            </a:r>
            <a:r>
              <a:rPr lang="en-US" b="1" dirty="0"/>
              <a:t>20 grocery stores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To </a:t>
            </a:r>
            <a:r>
              <a:rPr lang="en-US" dirty="0"/>
              <a:t>better understand customer value and purchasing behavior, the company classifies its stores </a:t>
            </a:r>
            <a:r>
              <a:rPr lang="en-US" dirty="0" smtClean="0"/>
              <a:t>into</a:t>
            </a:r>
          </a:p>
          <a:p>
            <a:r>
              <a:rPr lang="en-US" dirty="0" smtClean="0"/>
              <a:t>three </a:t>
            </a:r>
            <a:r>
              <a:rPr lang="en-US" dirty="0"/>
              <a:t>main categories:</a:t>
            </a:r>
          </a:p>
          <a:p>
            <a:endParaRPr lang="en-US" dirty="0"/>
          </a:p>
        </p:txBody>
      </p:sp>
      <p:graphicFrame>
        <p:nvGraphicFramePr>
          <p:cNvPr id="6" name="Google Shape;1253;p41"/>
          <p:cNvGraphicFramePr/>
          <p:nvPr>
            <p:extLst>
              <p:ext uri="{D42A27DB-BD31-4B8C-83A1-F6EECF244321}">
                <p14:modId xmlns:p14="http://schemas.microsoft.com/office/powerpoint/2010/main" val="1654554336"/>
              </p:ext>
            </p:extLst>
          </p:nvPr>
        </p:nvGraphicFramePr>
        <p:xfrm>
          <a:off x="496613" y="2624152"/>
          <a:ext cx="8158657" cy="1720990"/>
        </p:xfrm>
        <a:graphic>
          <a:graphicData uri="http://schemas.openxmlformats.org/drawingml/2006/table">
            <a:tbl>
              <a:tblPr>
                <a:noFill/>
                <a:tableStyleId>{82940C9C-8347-4B21-9FD0-C5E616047790}</a:tableStyleId>
              </a:tblPr>
              <a:tblGrid>
                <a:gridCol w="151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2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Category</a:t>
                      </a:r>
                      <a:endParaRPr dirty="0">
                        <a:solidFill>
                          <a:srgbClr val="4E48AB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Description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Purchase</a:t>
                      </a:r>
                      <a:r>
                        <a:rPr lang="en" baseline="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 Frequency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Avg</a:t>
                      </a:r>
                      <a:r>
                        <a:rPr lang="en" baseline="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 Invoice Value (SAR)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A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Large groceries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&gt; 500 SAR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B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 groceries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Every 2 weeks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200–500 SAR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C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Small groceries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Monthly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 200 SAR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7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21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244367" y="1233551"/>
            <a:ext cx="8726212" cy="3259621"/>
          </a:xfrm>
        </p:spPr>
        <p:txBody>
          <a:bodyPr/>
          <a:lstStyle/>
          <a:p>
            <a:r>
              <a:rPr lang="en-US" dirty="0"/>
              <a:t>Despite having a clear segmentation model, the current operational approach applies the </a:t>
            </a:r>
            <a:r>
              <a:rPr lang="en-US" b="1" dirty="0"/>
              <a:t>same weekly visit frequency</a:t>
            </a:r>
            <a:r>
              <a:rPr lang="en-US" dirty="0"/>
              <a:t> to all store </a:t>
            </a:r>
            <a:r>
              <a:rPr lang="en-US" dirty="0" smtClean="0"/>
              <a:t>categories (A</a:t>
            </a:r>
            <a:r>
              <a:rPr lang="en-US" dirty="0"/>
              <a:t>, B, and C) </a:t>
            </a:r>
            <a:r>
              <a:rPr lang="en-US" dirty="0" smtClean="0"/>
              <a:t>regardless </a:t>
            </a:r>
            <a:r>
              <a:rPr lang="en-US" dirty="0"/>
              <a:t>of their </a:t>
            </a:r>
            <a:r>
              <a:rPr lang="en-US" dirty="0" smtClean="0"/>
              <a:t>purchase frequency and on </a:t>
            </a:r>
            <a:r>
              <a:rPr lang="en-US" dirty="0"/>
              <a:t>average, </a:t>
            </a:r>
            <a:r>
              <a:rPr lang="en-US" b="1" dirty="0"/>
              <a:t>only </a:t>
            </a:r>
            <a:r>
              <a:rPr lang="en-US" b="1" dirty="0" smtClean="0"/>
              <a:t>~ 30</a:t>
            </a:r>
            <a:r>
              <a:rPr lang="en-US" b="1" dirty="0"/>
              <a:t>% of </a:t>
            </a:r>
            <a:r>
              <a:rPr lang="en-US" b="1" dirty="0" smtClean="0"/>
              <a:t>visits </a:t>
            </a:r>
            <a:r>
              <a:rPr lang="en-US" b="1" dirty="0"/>
              <a:t>result in a </a:t>
            </a:r>
            <a:r>
              <a:rPr lang="en-US" b="1" dirty="0" smtClean="0"/>
              <a:t>sale.</a:t>
            </a:r>
            <a:r>
              <a:rPr lang="en-US" dirty="0" smtClean="0"/>
              <a:t> </a:t>
            </a:r>
            <a:r>
              <a:rPr lang="en-US" dirty="0"/>
              <a:t>This </a:t>
            </a:r>
            <a:r>
              <a:rPr lang="en-US" dirty="0" smtClean="0"/>
              <a:t>creates a </a:t>
            </a:r>
            <a:r>
              <a:rPr lang="en-US" dirty="0"/>
              <a:t>mismatch between service efforts and actual customer needs, </a:t>
            </a:r>
            <a:r>
              <a:rPr lang="en-US" dirty="0" smtClean="0"/>
              <a:t>leading to inefficiencies </a:t>
            </a:r>
            <a:r>
              <a:rPr lang="en-US" dirty="0"/>
              <a:t>in resource allocation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 company’s goal is to </a:t>
            </a:r>
            <a:r>
              <a:rPr lang="en-US" b="1" dirty="0"/>
              <a:t>maximize market coverage, increase sales, and optimize </a:t>
            </a:r>
            <a:r>
              <a:rPr lang="en-US" b="1" dirty="0" smtClean="0"/>
              <a:t>fleet productivity</a:t>
            </a:r>
            <a:r>
              <a:rPr lang="en-US" dirty="0" smtClean="0"/>
              <a:t> </a:t>
            </a:r>
            <a:r>
              <a:rPr lang="en-US" dirty="0"/>
              <a:t>by aligning visit frequency with customer value.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71129" y="147372"/>
            <a:ext cx="8599450" cy="688200"/>
          </a:xfrm>
        </p:spPr>
        <p:txBody>
          <a:bodyPr/>
          <a:lstStyle/>
          <a:p>
            <a:r>
              <a:rPr lang="en-US" sz="2800" dirty="0" smtClean="0"/>
              <a:t>Current Operations and Business Challenge</a:t>
            </a:r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7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7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71129" y="147372"/>
            <a:ext cx="8599450" cy="634980"/>
          </a:xfrm>
        </p:spPr>
        <p:txBody>
          <a:bodyPr/>
          <a:lstStyle/>
          <a:p>
            <a:r>
              <a:rPr lang="en-US" sz="2800" dirty="0" smtClean="0"/>
              <a:t>Current Operation Analysis</a:t>
            </a:r>
            <a:endParaRPr lang="en-US" sz="2800" dirty="0"/>
          </a:p>
        </p:txBody>
      </p:sp>
      <p:sp>
        <p:nvSpPr>
          <p:cNvPr id="9" name="Rounded Rectangle 8"/>
          <p:cNvSpPr/>
          <p:nvPr/>
        </p:nvSpPr>
        <p:spPr>
          <a:xfrm>
            <a:off x="575442" y="1939158"/>
            <a:ext cx="1805152" cy="199433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92759" y="3419186"/>
            <a:ext cx="1453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4157"/>
                </a:solidFill>
                <a:latin typeface="DM Sans" panose="020B0604020202020204" charset="0"/>
              </a:rPr>
              <a:t>Total Stores</a:t>
            </a:r>
            <a:endParaRPr lang="en-US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11" name="Google Shape;1080;p37"/>
          <p:cNvSpPr txBox="1">
            <a:spLocks noGrp="1"/>
          </p:cNvSpPr>
          <p:nvPr>
            <p:ph type="title"/>
          </p:nvPr>
        </p:nvSpPr>
        <p:spPr>
          <a:xfrm>
            <a:off x="739524" y="2490657"/>
            <a:ext cx="1476987" cy="891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1,199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2667001" y="1939158"/>
            <a:ext cx="1805152" cy="199433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884318" y="3419186"/>
            <a:ext cx="1453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4157"/>
                </a:solidFill>
                <a:latin typeface="DM Sans" panose="020B0604020202020204" charset="0"/>
              </a:rPr>
              <a:t>Total Visits</a:t>
            </a:r>
            <a:endParaRPr lang="en-US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19" name="Google Shape;1080;p37"/>
          <p:cNvSpPr txBox="1">
            <a:spLocks noGrp="1"/>
          </p:cNvSpPr>
          <p:nvPr>
            <p:ph type="title"/>
          </p:nvPr>
        </p:nvSpPr>
        <p:spPr>
          <a:xfrm>
            <a:off x="2831083" y="2490657"/>
            <a:ext cx="1476987" cy="891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dirty="0" smtClean="0"/>
              <a:t>5,847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4758560" y="1939158"/>
            <a:ext cx="1805152" cy="199433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898549" y="3419185"/>
            <a:ext cx="1622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334157"/>
                </a:solidFill>
                <a:latin typeface="DM Sans" panose="020B0604020202020204" charset="0"/>
              </a:rPr>
              <a:t>Total Sale (SAR)</a:t>
            </a:r>
            <a:endParaRPr lang="en-US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22" name="Google Shape;1080;p37"/>
          <p:cNvSpPr txBox="1">
            <a:spLocks noGrp="1"/>
          </p:cNvSpPr>
          <p:nvPr>
            <p:ph type="title"/>
          </p:nvPr>
        </p:nvSpPr>
        <p:spPr>
          <a:xfrm>
            <a:off x="4758560" y="2490657"/>
            <a:ext cx="1902371" cy="891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 smtClean="0">
                <a:solidFill>
                  <a:srgbClr val="334157"/>
                </a:solidFill>
              </a:rPr>
              <a:t>762,271</a:t>
            </a:r>
            <a:endParaRPr dirty="0">
              <a:solidFill>
                <a:srgbClr val="334157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98871" y="1939158"/>
            <a:ext cx="1805152" cy="199433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062954" y="3419186"/>
            <a:ext cx="1507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34157"/>
                </a:solidFill>
                <a:latin typeface="DM Sans" panose="020B0604020202020204" charset="0"/>
              </a:rPr>
              <a:t>Productivity %</a:t>
            </a:r>
          </a:p>
        </p:txBody>
      </p:sp>
      <p:sp>
        <p:nvSpPr>
          <p:cNvPr id="25" name="Google Shape;1080;p37"/>
          <p:cNvSpPr txBox="1">
            <a:spLocks noGrp="1"/>
          </p:cNvSpPr>
          <p:nvPr>
            <p:ph type="title"/>
          </p:nvPr>
        </p:nvSpPr>
        <p:spPr>
          <a:xfrm>
            <a:off x="6898870" y="2490657"/>
            <a:ext cx="1850991" cy="891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27.89%</a:t>
            </a:r>
            <a:endParaRPr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55" y="1715172"/>
            <a:ext cx="811924" cy="71039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46" y="1677959"/>
            <a:ext cx="876401" cy="8126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377" y="1636081"/>
            <a:ext cx="755518" cy="72380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668" y="1543710"/>
            <a:ext cx="825125" cy="812698"/>
          </a:xfrm>
          <a:prstGeom prst="rect">
            <a:avLst/>
          </a:prstGeom>
        </p:spPr>
      </p:pic>
      <p:sp>
        <p:nvSpPr>
          <p:cNvPr id="30" name="Subtitle 3"/>
          <p:cNvSpPr>
            <a:spLocks noGrp="1"/>
          </p:cNvSpPr>
          <p:nvPr>
            <p:ph type="subTitle" idx="1"/>
          </p:nvPr>
        </p:nvSpPr>
        <p:spPr>
          <a:xfrm>
            <a:off x="246995" y="1125853"/>
            <a:ext cx="8726212" cy="4165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Most </a:t>
            </a:r>
            <a:r>
              <a:rPr lang="en-US" dirty="0"/>
              <a:t>visits don’t turn into sales. In fact, only 27.89% lead to a purchase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5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6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71129" y="147372"/>
            <a:ext cx="8465443" cy="664552"/>
          </a:xfrm>
        </p:spPr>
        <p:txBody>
          <a:bodyPr/>
          <a:lstStyle/>
          <a:p>
            <a:r>
              <a:rPr lang="en-US" sz="2800" b="1" dirty="0">
                <a:solidFill>
                  <a:srgbClr val="334157"/>
                </a:solidFill>
              </a:rPr>
              <a:t>Category</a:t>
            </a:r>
            <a:r>
              <a:rPr lang="en-US" sz="2800" b="1" dirty="0"/>
              <a:t> Performance </a:t>
            </a:r>
            <a:r>
              <a:rPr lang="en-US" sz="2800" b="1" dirty="0" smtClean="0"/>
              <a:t>Analysis</a:t>
            </a:r>
            <a:endParaRPr lang="en-US" sz="2800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298576"/>
              </p:ext>
            </p:extLst>
          </p:nvPr>
        </p:nvGraphicFramePr>
        <p:xfrm>
          <a:off x="-10287" y="1545914"/>
          <a:ext cx="2562225" cy="2020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0499" y="1027677"/>
            <a:ext cx="2366576" cy="257831"/>
          </a:xfrm>
        </p:spPr>
        <p:txBody>
          <a:bodyPr/>
          <a:lstStyle/>
          <a:p>
            <a:r>
              <a:rPr lang="en-US" sz="1200" dirty="0" smtClean="0">
                <a:latin typeface="DM Sans" panose="020B0604020202020204" charset="0"/>
              </a:rPr>
              <a:t>Number of stores by category</a:t>
            </a:r>
            <a:endParaRPr lang="en-US" sz="1200" dirty="0">
              <a:latin typeface="DM Sans" panose="020B0604020202020204" charset="0"/>
            </a:endParaRP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492742"/>
              </p:ext>
            </p:extLst>
          </p:nvPr>
        </p:nvGraphicFramePr>
        <p:xfrm>
          <a:off x="2756561" y="1545914"/>
          <a:ext cx="2574924" cy="219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22164" y="1020567"/>
            <a:ext cx="2309321" cy="272052"/>
          </a:xfrm>
        </p:spPr>
        <p:txBody>
          <a:bodyPr/>
          <a:lstStyle/>
          <a:p>
            <a:r>
              <a:rPr lang="en-US" sz="1200" dirty="0" smtClean="0">
                <a:latin typeface="DM Sans" panose="020B0604020202020204" charset="0"/>
              </a:rPr>
              <a:t>Number of visits by category</a:t>
            </a:r>
            <a:endParaRPr lang="en-US" sz="1200" dirty="0">
              <a:latin typeface="DM Sans" panose="020B0604020202020204" charset="0"/>
            </a:endParaRPr>
          </a:p>
        </p:txBody>
      </p:sp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989592"/>
              </p:ext>
            </p:extLst>
          </p:nvPr>
        </p:nvGraphicFramePr>
        <p:xfrm>
          <a:off x="5728361" y="1384881"/>
          <a:ext cx="3200400" cy="2629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801711" y="1020567"/>
            <a:ext cx="3342289" cy="272052"/>
          </a:xfrm>
        </p:spPr>
        <p:txBody>
          <a:bodyPr/>
          <a:lstStyle/>
          <a:p>
            <a:r>
              <a:rPr lang="en-US" sz="1200" dirty="0" smtClean="0">
                <a:latin typeface="DM Sans" panose="020B0604020202020204" charset="0"/>
              </a:rPr>
              <a:t>Sales per productive visits &amp;Productivity %</a:t>
            </a:r>
            <a:endParaRPr lang="en-US" sz="1200" dirty="0">
              <a:latin typeface="DM Sans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0848" y="4106591"/>
            <a:ext cx="61091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334157"/>
                </a:solidFill>
                <a:latin typeface="DM Sans" panose="020B0604020202020204" charset="0"/>
              </a:rPr>
              <a:t>Most </a:t>
            </a:r>
            <a:r>
              <a:rPr lang="en-US" sz="1200" b="1" dirty="0">
                <a:solidFill>
                  <a:srgbClr val="334157"/>
                </a:solidFill>
                <a:latin typeface="DM Sans" panose="020B0604020202020204" charset="0"/>
              </a:rPr>
              <a:t>of our visits go to B stores, yet A stores are the main revenue drivers.</a:t>
            </a:r>
          </a:p>
        </p:txBody>
      </p:sp>
    </p:spTree>
    <p:extLst>
      <p:ext uri="{BB962C8B-B14F-4D97-AF65-F5344CB8AC3E}">
        <p14:creationId xmlns:p14="http://schemas.microsoft.com/office/powerpoint/2010/main" val="365405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36871"/>
              </p:ext>
            </p:extLst>
          </p:nvPr>
        </p:nvGraphicFramePr>
        <p:xfrm>
          <a:off x="362606" y="1486585"/>
          <a:ext cx="8552794" cy="3051027"/>
        </p:xfrm>
        <a:graphic>
          <a:graphicData uri="http://schemas.openxmlformats.org/drawingml/2006/table">
            <a:tbl>
              <a:tblPr>
                <a:noFill/>
                <a:tableStyleId>{82940C9C-8347-4B21-9FD0-C5E616047790}</a:tableStyleId>
              </a:tblPr>
              <a:tblGrid>
                <a:gridCol w="957286">
                  <a:extLst>
                    <a:ext uri="{9D8B030D-6E8A-4147-A177-3AD203B41FA5}">
                      <a16:colId xmlns:a16="http://schemas.microsoft.com/office/drawing/2014/main" val="313317462"/>
                    </a:ext>
                  </a:extLst>
                </a:gridCol>
                <a:gridCol w="1095703">
                  <a:extLst>
                    <a:ext uri="{9D8B030D-6E8A-4147-A177-3AD203B41FA5}">
                      <a16:colId xmlns:a16="http://schemas.microsoft.com/office/drawing/2014/main" val="3614540397"/>
                    </a:ext>
                  </a:extLst>
                </a:gridCol>
                <a:gridCol w="1226890">
                  <a:extLst>
                    <a:ext uri="{9D8B030D-6E8A-4147-A177-3AD203B41FA5}">
                      <a16:colId xmlns:a16="http://schemas.microsoft.com/office/drawing/2014/main" val="2694367313"/>
                    </a:ext>
                  </a:extLst>
                </a:gridCol>
                <a:gridCol w="3980880">
                  <a:extLst>
                    <a:ext uri="{9D8B030D-6E8A-4147-A177-3AD203B41FA5}">
                      <a16:colId xmlns:a16="http://schemas.microsoft.com/office/drawing/2014/main" val="3692505939"/>
                    </a:ext>
                  </a:extLst>
                </a:gridCol>
                <a:gridCol w="1292035">
                  <a:extLst>
                    <a:ext uri="{9D8B030D-6E8A-4147-A177-3AD203B41FA5}">
                      <a16:colId xmlns:a16="http://schemas.microsoft.com/office/drawing/2014/main" val="1657876064"/>
                    </a:ext>
                  </a:extLst>
                </a:gridCol>
              </a:tblGrid>
              <a:tr h="832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Group</a:t>
                      </a:r>
                      <a:endParaRPr dirty="0">
                        <a:solidFill>
                          <a:srgbClr val="4E48AB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Old Frequency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New Frequency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Reason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Effect</a:t>
                      </a:r>
                      <a:endParaRPr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44807"/>
                  </a:ext>
                </a:extLst>
              </a:tr>
              <a:tr h="5046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A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  <a:endParaRPr lang="en-US"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These stores bring in 849.62 SAR per productive visit, which is the highest return.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change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58211"/>
                  </a:ext>
                </a:extLst>
              </a:tr>
              <a:tr h="4829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B-High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Every 2 weeks 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 of 3,077 visits, only 654 resulted in a sale — meaning 2,423 visits didn’t lead to anything.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Arial"/>
                        </a:rPr>
                        <a:t>-50% visits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Arial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116981"/>
                  </a:ext>
                </a:extLst>
              </a:tr>
              <a:tr h="4829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B-Low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Monthly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 smtClean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-75% visits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14988"/>
                  </a:ext>
                </a:extLst>
              </a:tr>
              <a:tr h="7196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>
                          <a:solidFill>
                            <a:schemeClr val="dk1"/>
                          </a:solidFill>
                          <a:latin typeface="Baloo 2 ExtraBold"/>
                          <a:ea typeface="Baloo 2 ExtraBold"/>
                          <a:cs typeface="Baloo 2 ExtraBold"/>
                          <a:sym typeface="Baloo 2 ExtraBold"/>
                        </a:rPr>
                        <a:t>C</a:t>
                      </a:r>
                      <a:endParaRPr sz="1400" dirty="0">
                        <a:solidFill>
                          <a:schemeClr val="dk1"/>
                        </a:solidFill>
                        <a:latin typeface="Baloo 2 ExtraBold"/>
                        <a:ea typeface="Baloo 2 ExtraBold"/>
                        <a:cs typeface="Baloo 2 ExtraBold"/>
                        <a:sym typeface="Baloo 2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Monthly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Their productivity looks high, but the actual revenue per productive visit is very low (121.84 SAR). Weekly visits simply don’t make financial sense here.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-75% visits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082726"/>
                  </a:ext>
                </a:extLst>
              </a:tr>
            </a:tbl>
          </a:graphicData>
        </a:graphic>
      </p:graphicFrame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9187" y="777565"/>
            <a:ext cx="9065172" cy="688628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lang="en-US" b="1" dirty="0" smtClean="0"/>
              <a:t>Goal: </a:t>
            </a:r>
            <a:r>
              <a:rPr lang="en-US" dirty="0" smtClean="0"/>
              <a:t>Maximize </a:t>
            </a:r>
            <a:r>
              <a:rPr lang="en-US" dirty="0"/>
              <a:t>sales and fleet productivity by matching visit frequency to customer value rather than treating all stores equally</a:t>
            </a:r>
            <a:r>
              <a:rPr lang="en-US" dirty="0" smtClean="0"/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568" y="131607"/>
            <a:ext cx="9096064" cy="709020"/>
          </a:xfrm>
        </p:spPr>
        <p:txBody>
          <a:bodyPr/>
          <a:lstStyle/>
          <a:p>
            <a:r>
              <a:rPr lang="en-US" sz="2800" dirty="0"/>
              <a:t>Recommended </a:t>
            </a:r>
            <a:r>
              <a:rPr lang="en-US" sz="2800" dirty="0" smtClean="0"/>
              <a:t>Solution: </a:t>
            </a:r>
            <a:r>
              <a:rPr lang="en-US" sz="2800" dirty="0"/>
              <a:t>Smart Visit Frequency Model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8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973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260133" y="833350"/>
            <a:ext cx="3760074" cy="688094"/>
          </a:xfrm>
        </p:spPr>
        <p:txBody>
          <a:bodyPr/>
          <a:lstStyle/>
          <a:p>
            <a:pPr marL="139700" indent="0">
              <a:spcAft>
                <a:spcPts val="1000"/>
              </a:spcAft>
            </a:pPr>
            <a:r>
              <a:rPr lang="en-US" b="1" dirty="0"/>
              <a:t>This model will do</a:t>
            </a:r>
            <a:r>
              <a:rPr lang="en-US" b="1" dirty="0" smtClean="0"/>
              <a:t>:</a:t>
            </a:r>
          </a:p>
          <a:p>
            <a:pPr marL="139700" indent="0"/>
            <a:r>
              <a:rPr lang="en-US" sz="1200" dirty="0"/>
              <a:t>Reduce the number of </a:t>
            </a:r>
            <a:r>
              <a:rPr lang="en-US" sz="1200" dirty="0" smtClean="0"/>
              <a:t>unproductive </a:t>
            </a:r>
            <a:r>
              <a:rPr lang="en-US" sz="1200" dirty="0"/>
              <a:t>visits </a:t>
            </a:r>
            <a:r>
              <a:rPr lang="en-US" sz="1200" dirty="0" smtClean="0"/>
              <a:t>by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0848" y="4657664"/>
            <a:ext cx="4319752" cy="438035"/>
            <a:chOff x="480848" y="4657664"/>
            <a:chExt cx="4319752" cy="43803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48" y="4657664"/>
              <a:ext cx="438035" cy="438035"/>
            </a:xfrm>
            <a:prstGeom prst="rect">
              <a:avLst/>
            </a:prstGeom>
          </p:spPr>
        </p:pic>
        <p:sp>
          <p:nvSpPr>
            <p:cNvPr id="6" name="Subtitle 3"/>
            <p:cNvSpPr txBox="1">
              <a:spLocks/>
            </p:cNvSpPr>
            <p:nvPr/>
          </p:nvSpPr>
          <p:spPr>
            <a:xfrm>
              <a:off x="859220" y="4694854"/>
              <a:ext cx="3941380" cy="363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r>
                <a:rPr lang="en-US" sz="1100" dirty="0" smtClean="0"/>
                <a:t>Malaz Elfadil </a:t>
              </a:r>
              <a:r>
                <a:rPr lang="en-US" sz="1100" dirty="0"/>
                <a:t>| Data &amp; Business Intelligence Analyst </a:t>
              </a: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71128" y="147372"/>
            <a:ext cx="8772871" cy="648787"/>
          </a:xfrm>
        </p:spPr>
        <p:txBody>
          <a:bodyPr/>
          <a:lstStyle/>
          <a:p>
            <a:r>
              <a:rPr lang="en-US" sz="2800" dirty="0"/>
              <a:t>Expected Impact of the </a:t>
            </a:r>
            <a:r>
              <a:rPr lang="en-US" sz="2800" dirty="0" smtClean="0"/>
              <a:t>Model</a:t>
            </a:r>
            <a:endParaRPr lang="en-US" sz="2800" dirty="0"/>
          </a:p>
        </p:txBody>
      </p:sp>
      <p:sp>
        <p:nvSpPr>
          <p:cNvPr id="12" name="Rounded Rectangle 11"/>
          <p:cNvSpPr/>
          <p:nvPr/>
        </p:nvSpPr>
        <p:spPr>
          <a:xfrm>
            <a:off x="1118457" y="2040687"/>
            <a:ext cx="1293667" cy="1281002"/>
          </a:xfrm>
          <a:prstGeom prst="roundRect">
            <a:avLst/>
          </a:prstGeom>
          <a:solidFill>
            <a:srgbClr val="ECECEC"/>
          </a:solidFill>
          <a:ln>
            <a:solidFill>
              <a:srgbClr val="92D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346" y="1717727"/>
            <a:ext cx="535888" cy="522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8082" y="2860328"/>
            <a:ext cx="1524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334157"/>
                </a:solidFill>
                <a:latin typeface="DM Sans" panose="020B0604020202020204" charset="0"/>
              </a:rPr>
              <a:t>Trips per year</a:t>
            </a:r>
            <a:endParaRPr lang="en-US" sz="1100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15" name="Google Shape;1080;p37"/>
          <p:cNvSpPr txBox="1">
            <a:spLocks noGrp="1"/>
          </p:cNvSpPr>
          <p:nvPr>
            <p:ph type="title"/>
          </p:nvPr>
        </p:nvSpPr>
        <p:spPr>
          <a:xfrm>
            <a:off x="1304735" y="2352566"/>
            <a:ext cx="921110" cy="457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sz="1800" dirty="0" smtClean="0"/>
              <a:t>~1,700</a:t>
            </a:r>
            <a:endParaRPr sz="1800" dirty="0"/>
          </a:p>
        </p:txBody>
      </p:sp>
      <p:sp>
        <p:nvSpPr>
          <p:cNvPr id="17" name="Subtitle 3"/>
          <p:cNvSpPr txBox="1">
            <a:spLocks/>
          </p:cNvSpPr>
          <p:nvPr/>
        </p:nvSpPr>
        <p:spPr>
          <a:xfrm>
            <a:off x="260133" y="3618309"/>
            <a:ext cx="3760074" cy="8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spcAft>
                <a:spcPts val="1000"/>
              </a:spcAft>
            </a:pPr>
            <a:r>
              <a:rPr lang="en-US" sz="1200" dirty="0" smtClean="0"/>
              <a:t>These are visits that do not lead to sale and consume fuel, driver hours, and fleet capacity.</a:t>
            </a:r>
          </a:p>
        </p:txBody>
      </p:sp>
      <p:sp>
        <p:nvSpPr>
          <p:cNvPr id="22" name="Subtitle 3"/>
          <p:cNvSpPr txBox="1">
            <a:spLocks/>
          </p:cNvSpPr>
          <p:nvPr/>
        </p:nvSpPr>
        <p:spPr>
          <a:xfrm>
            <a:off x="4800600" y="833349"/>
            <a:ext cx="3760074" cy="68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spcAft>
                <a:spcPts val="1000"/>
              </a:spcAft>
            </a:pPr>
            <a:endParaRPr lang="en-US" b="1" dirty="0" smtClean="0"/>
          </a:p>
          <a:p>
            <a:pPr marL="139700" indent="0"/>
            <a:r>
              <a:rPr lang="en-US" sz="1200" dirty="0" smtClean="0"/>
              <a:t>Increase </a:t>
            </a:r>
            <a:r>
              <a:rPr lang="en-US" sz="1200" dirty="0"/>
              <a:t>sales productivity from</a:t>
            </a:r>
            <a:endParaRPr lang="en-US" sz="1200" dirty="0" smtClean="0"/>
          </a:p>
        </p:txBody>
      </p:sp>
      <p:sp>
        <p:nvSpPr>
          <p:cNvPr id="31" name="Rounded Rectangle 30"/>
          <p:cNvSpPr/>
          <p:nvPr/>
        </p:nvSpPr>
        <p:spPr>
          <a:xfrm>
            <a:off x="5102836" y="2046329"/>
            <a:ext cx="1293667" cy="1281002"/>
          </a:xfrm>
          <a:prstGeom prst="roundRect">
            <a:avLst/>
          </a:prstGeom>
          <a:solidFill>
            <a:srgbClr val="ECECEC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042461" y="2865970"/>
            <a:ext cx="1524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334157"/>
                </a:solidFill>
                <a:latin typeface="DM Sans" panose="020B0604020202020204" charset="0"/>
              </a:rPr>
              <a:t>Productivity</a:t>
            </a:r>
            <a:endParaRPr lang="en-US" sz="1100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34" name="Google Shape;1080;p37"/>
          <p:cNvSpPr txBox="1">
            <a:spLocks noGrp="1"/>
          </p:cNvSpPr>
          <p:nvPr>
            <p:ph type="title"/>
          </p:nvPr>
        </p:nvSpPr>
        <p:spPr>
          <a:xfrm>
            <a:off x="5289114" y="2358208"/>
            <a:ext cx="921110" cy="457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sz="1800" dirty="0" smtClean="0"/>
              <a:t>27.89</a:t>
            </a:r>
            <a:endParaRPr sz="1800" dirty="0"/>
          </a:p>
        </p:txBody>
      </p:sp>
      <p:sp>
        <p:nvSpPr>
          <p:cNvPr id="35" name="Rounded Rectangle 34"/>
          <p:cNvSpPr/>
          <p:nvPr/>
        </p:nvSpPr>
        <p:spPr>
          <a:xfrm>
            <a:off x="7245955" y="2040687"/>
            <a:ext cx="1293667" cy="1281002"/>
          </a:xfrm>
          <a:prstGeom prst="roundRect">
            <a:avLst/>
          </a:prstGeom>
          <a:solidFill>
            <a:srgbClr val="ECECEC"/>
          </a:solidFill>
          <a:ln>
            <a:solidFill>
              <a:srgbClr val="92D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185580" y="2860328"/>
            <a:ext cx="1524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334157"/>
                </a:solidFill>
                <a:latin typeface="DM Sans" panose="020B0604020202020204" charset="0"/>
              </a:rPr>
              <a:t>Productivity</a:t>
            </a:r>
            <a:endParaRPr lang="en-US" sz="1100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38" name="Google Shape;1080;p37"/>
          <p:cNvSpPr txBox="1">
            <a:spLocks noGrp="1"/>
          </p:cNvSpPr>
          <p:nvPr>
            <p:ph type="title"/>
          </p:nvPr>
        </p:nvSpPr>
        <p:spPr>
          <a:xfrm>
            <a:off x="7432233" y="2352566"/>
            <a:ext cx="921110" cy="457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sz="1800" dirty="0" smtClean="0"/>
              <a:t>~39.33</a:t>
            </a:r>
            <a:endParaRPr sz="18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944" y="1897849"/>
            <a:ext cx="375449" cy="34815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241" y="1866607"/>
            <a:ext cx="375449" cy="34815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64651" y="2419578"/>
            <a:ext cx="1713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334157"/>
                </a:solidFill>
              </a:rPr>
              <a:t>➝ </a:t>
            </a:r>
            <a:endParaRPr lang="en-US" sz="2800" b="1" dirty="0">
              <a:solidFill>
                <a:srgbClr val="334157"/>
              </a:solidFill>
              <a:latin typeface="DM Sans" panose="020B0604020202020204" charset="0"/>
            </a:endParaRPr>
          </a:p>
        </p:txBody>
      </p:sp>
      <p:sp>
        <p:nvSpPr>
          <p:cNvPr id="42" name="Subtitle 3"/>
          <p:cNvSpPr txBox="1">
            <a:spLocks/>
          </p:cNvSpPr>
          <p:nvPr/>
        </p:nvSpPr>
        <p:spPr>
          <a:xfrm>
            <a:off x="4800600" y="3618308"/>
            <a:ext cx="3760074" cy="8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>
              <a:spcAft>
                <a:spcPts val="1000"/>
              </a:spcAft>
            </a:pPr>
            <a:r>
              <a:rPr lang="en-US" sz="1200" dirty="0" smtClean="0"/>
              <a:t>That’s </a:t>
            </a:r>
            <a:r>
              <a:rPr lang="en-US" sz="1200" dirty="0"/>
              <a:t>an improvement of +11 percentage points, achieved without adding new vans or staff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704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Statistics and Data Analysis</a:t>
            </a:r>
            <a:r>
              <a:rPr lang="en" sz="4600" dirty="0"/>
              <a:t> 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9134</TotalTime>
  <Words>525</Words>
  <Application>Microsoft Office PowerPoint</Application>
  <PresentationFormat>On-screen Show (16:9)</PresentationFormat>
  <Paragraphs>90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DM Sans</vt:lpstr>
      <vt:lpstr>Arial</vt:lpstr>
      <vt:lpstr>Bebas Neue</vt:lpstr>
      <vt:lpstr>Bahnschrift</vt:lpstr>
      <vt:lpstr>Baloo 2 ExtraBold</vt:lpstr>
      <vt:lpstr>Calibri</vt:lpstr>
      <vt:lpstr>Statistics and Data Analysis - 6th Grade by Slidesgo</vt:lpstr>
      <vt:lpstr>Business Overview</vt:lpstr>
      <vt:lpstr>Current Operations and Business Challenge</vt:lpstr>
      <vt:lpstr>Current Operation Analysis</vt:lpstr>
      <vt:lpstr>Category Performance Analysis</vt:lpstr>
      <vt:lpstr>Recommended Solution: Smart Visit Frequency Model</vt:lpstr>
      <vt:lpstr>Expected Impact of the Model</vt:lpstr>
      <vt:lpstr>Statistics and Data Analysis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and Data Analysis </dc:title>
  <cp:lastModifiedBy>Malaz Elfadil</cp:lastModifiedBy>
  <cp:revision>49</cp:revision>
  <dcterms:modified xsi:type="dcterms:W3CDTF">2025-12-02T14:09:44Z</dcterms:modified>
</cp:coreProperties>
</file>